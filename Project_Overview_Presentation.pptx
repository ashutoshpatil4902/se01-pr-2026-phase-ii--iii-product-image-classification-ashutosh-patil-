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01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26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A0C10"/>
          </a:solidFill>
          <a:ln w="25400">
            <a:solidFill>
              <a:srgbClr val="6CF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12648"/>
            <a:ext cx="237744" cy="237744"/>
          </a:xfrm>
          <a:prstGeom prst="ellipse">
            <a:avLst/>
          </a:prstGeom>
          <a:solidFill>
            <a:srgbClr val="6CF0C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LAB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758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Classifying E-commerce Products
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Images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· how it works · workflow · model architectures · explainability with Grad-CAM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Grad-CAM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Flask + HF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782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Ashutosh Rajendra Patil  ·  MSc  ·  University of Europe for Applied Sciences  · 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split orient="vert"/>
      </p:transition>
    </mc:Choice>
    <mc:Fallback>
      <p:transition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project 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1151C"/>
          </a:solidFill>
          <a:ln w="12700">
            <a:solidFill>
              <a:srgbClr val="6CF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automatically sorts e-commerce product photos into 9 categories, comparing a custom-built CNN with two transfer-learning models, and explaining every prediction visually.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single product image, predict which of 9 categories it belongs to — baby products, electronics, grocery, and more.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246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comparison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46177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convolutional networks of very different size and origin, evaluated on the same data under the same conditions.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46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356616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transparency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46177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is paired with a Grad-CAM heatmap so a human can see which pixels drove the decision.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did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0" cy="475488"/>
          </a:xfrm>
          <a:prstGeom prst="line">
            <a:avLst/>
          </a:prstGeom>
          <a:noFill/>
          <a:ln w="19050">
            <a:solidFill>
              <a:srgbClr val="23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91840" y="167335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transfer learning beat a CNN trained from scratch on a real, imbalanced product catalog — and at what computational cost?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0" cy="475488"/>
          </a:xfrm>
          <a:prstGeom prst="line">
            <a:avLst/>
          </a:prstGeom>
          <a:noFill/>
          <a:ln w="19050">
            <a:solidFill>
              <a:srgbClr val="23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18,006 labelled product images across 9 categories; resized to 224×224; split into train / validation / test.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4014216"/>
            <a:ext cx="0" cy="475488"/>
          </a:xfrm>
          <a:prstGeom prst="line">
            <a:avLst/>
          </a:prstGeom>
          <a:noFill/>
          <a:ln w="19050">
            <a:solidFill>
              <a:srgbClr val="23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91840" y="353872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three models (Custom CNN, MobileNetV2, ResNet50) with identical preprocessing, augmentation, and evaluation.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946904"/>
            <a:ext cx="0" cy="475488"/>
          </a:xfrm>
          <a:prstGeom prst="line">
            <a:avLst/>
          </a:prstGeom>
          <a:noFill/>
          <a:ln w="19050">
            <a:solidFill>
              <a:srgbClr val="23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471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91840" y="4471416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accuracy, precision, recall and F1 on a held-out test set; recorded training time and parameter counts.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8720" y="5404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Explanation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291840" y="5404104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Grad-CAM and SHAP to inspect what each model attends to, then deployed the whole system as a live web app.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workflow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 image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product photo uploaded or read from the dataset.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33088" y="22860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791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224×224, convert to array, apply model-specific scaling.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82128" y="22860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Augment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6791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flips, rotation and zoom expand the training set (train only).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/ Infer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45537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CNNs learn features; at inference they output class probabilities.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33088" y="41605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97680" y="36576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Softmax · 9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5537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over the 9 categories; the top one is the prediction.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82128" y="41605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46720" y="36576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Grad-CAM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21040" y="45537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highlights the regions that drove the prediction.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Grad-CAM works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 turns a model's own gradients into a heatmap of where it looked.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49440" cy="749808"/>
          </a:xfrm>
          <a:prstGeom prst="roundRect">
            <a:avLst>
              <a:gd name="adj" fmla="val 853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Forward 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05740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flows through the network to the final convolutional layer, producing feature maps.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6949440" cy="749808"/>
          </a:xfrm>
          <a:prstGeom prst="roundRect">
            <a:avLst>
              <a:gd name="adj" fmla="val 853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077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Pick the 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90779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score for the predicted class (e.g. ELECTRONICS) before softmax.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6949440" cy="749808"/>
          </a:xfrm>
          <a:prstGeom prst="roundRect">
            <a:avLst>
              <a:gd name="adj" fmla="val 853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5818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Gradients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5818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how that score changes with each feature map — these gradients signal importance.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6949440" cy="749808"/>
          </a:xfrm>
          <a:prstGeom prst="roundRect">
            <a:avLst>
              <a:gd name="adj" fmla="val 853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085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Weight &amp; combine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608576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each gradient into a weight, then sum the feature maps by those weights.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58968"/>
            <a:ext cx="6949440" cy="749808"/>
          </a:xfrm>
          <a:prstGeom prst="roundRect">
            <a:avLst>
              <a:gd name="adj" fmla="val 853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589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ReLU + upscale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45896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positive influence only, resize to the image, and overlay as a heatmap.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205740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161B24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260604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2C3A48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092440" y="438912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6CF0C2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heatmap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Grad-CAM matters here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model looked at the product itself, not the background or watermark — evidence the prediction is for the right reason.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Debugging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is wrong, the heatmap reveals whether it was distracted, mislabelled, or saw an ambiguous image.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Comparison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heatmaps show how a shallow custom CNN attends differently from a deep pretrained ResNet50.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Responsible AI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explanation makes the system auditable — important before any model is trusted in production.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at a glance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E-commerce Product Images 18K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865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3865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product classes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0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18,006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93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5935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 × 224 pixels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970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41970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12,722 images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0" y="4800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2,726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404104"/>
            <a:ext cx="7498080" cy="548640"/>
          </a:xfrm>
          <a:prstGeom prst="roundRect">
            <a:avLst>
              <a:gd name="adj" fmla="val 6667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4041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54041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2,727 images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21040" y="178308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161B24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3774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classes are imbalanced — grocery and home/kitchen dominate, while clothing and baby products are smaller. This makes F1 a fairer measure than raw accuracy.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architectures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61B2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PARAMS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GRAD-CAM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331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Trained from scratch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457,961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2331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custom_last_relu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81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081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ImageNet transfer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081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2,269,513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0815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out_relu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11151C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313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ImageNet transfer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8313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23,606,153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38313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conv5_block3_out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1B24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it:  </a:t>
            </a: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CNN is tiny and learns everything from the 9 classes; the transfer models reuse millions of ImageNet features and only adapt the top layers. The Grad-CAM layer is the last convolutional block we visualize.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Accuracy, F1 &amp; training cost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61B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6616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2064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669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(MIN)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45.5%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0640" y="2331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0.412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0.455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23317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0.386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66960" y="2331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0A0C10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815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30815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71.8%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20640" y="30815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0.711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30815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30815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66960" y="30815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3831336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11151C"/>
          </a:solidFill>
          <a:ln w="12700">
            <a:solidFill>
              <a:srgbClr val="6CF0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8313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66160" y="38313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76.9%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20640" y="38313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0.774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75120" y="38313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0.769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0" y="38313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0.768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966960" y="38313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B24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9560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F1 matters:  </a:t>
            </a: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dataset is imbalanced, F1 (the balance of precision and recall) reflects real performance better than accuracy alone. All metrics are reported on the held-out test set.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 · Product Image Classification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summary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64208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complete pipeline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19933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product image to predicted category, with explainability and a deployed interface.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architectures compared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30449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scratch-built CNN against MobileNetV2 and ResNet50, under identical conditions.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Explainable by design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40965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turns each model's gradients into a heatmap of where it looked.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502920" cy="50292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6CF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F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B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Measured rigorously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34440" y="51480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and training cost on a held-out test set.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F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 ·  Ashutosh Rajendra Patil  · 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978</Words>
  <Application>Microsoft Office PowerPoint</Application>
  <PresentationFormat>Widescreen</PresentationFormat>
  <Paragraphs>203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Image Classification — Project Overview</dc:title>
  <dc:subject>PptxGenJS Presentation</dc:subject>
  <dc:creator>Ashutosh Rajendra Patil</dc:creator>
  <cp:lastModifiedBy>Ashutosh Rajendra Patil</cp:lastModifiedBy>
  <cp:revision>2</cp:revision>
  <dcterms:created xsi:type="dcterms:W3CDTF">2026-06-27T22:39:44Z</dcterms:created>
  <dcterms:modified xsi:type="dcterms:W3CDTF">2026-06-28T09:07:44Z</dcterms:modified>
</cp:coreProperties>
</file>